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Libre Franklin Bold" panose="020B0604020202020204" charset="0"/>
      <p:regular r:id="rId12"/>
    </p:embeddedFont>
    <p:embeddedFont>
      <p:font typeface="Montserrat" panose="020F0502020204030204" pitchFamily="2" charset="0"/>
      <p:regular r:id="rId13"/>
    </p:embeddedFont>
    <p:embeddedFont>
      <p:font typeface="Playfair Display Bold" panose="020B0604020202020204" charset="0"/>
      <p:regular r:id="rId14"/>
    </p:embeddedFont>
    <p:embeddedFont>
      <p:font typeface="Source Serif Pr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22" autoAdjust="0"/>
  </p:normalViewPr>
  <p:slideViewPr>
    <p:cSldViewPr>
      <p:cViewPr varScale="1">
        <p:scale>
          <a:sx n="54" d="100"/>
          <a:sy n="54" d="100"/>
        </p:scale>
        <p:origin x="53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4576" y="3673091"/>
            <a:ext cx="15318848" cy="193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00"/>
              </a:lnSpc>
            </a:pPr>
            <a:r>
              <a:rPr lang="en-US" sz="1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MED-I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152400" y="8267700"/>
            <a:ext cx="9410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TEAM NAME: Team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762000" y="2552700"/>
            <a:ext cx="8772682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Problem Statement: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B16D8-E2A5-C02B-8018-F032B71B7598}"/>
              </a:ext>
            </a:extLst>
          </p:cNvPr>
          <p:cNvSpPr txBox="1"/>
          <p:nvPr/>
        </p:nvSpPr>
        <p:spPr>
          <a:xfrm>
            <a:off x="1981200" y="3886271"/>
            <a:ext cx="112014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Develop an </a:t>
            </a:r>
            <a:r>
              <a:rPr lang="en-US" sz="2800" b="1" dirty="0">
                <a:solidFill>
                  <a:schemeClr val="bg1"/>
                </a:solidFill>
              </a:rPr>
              <a:t>AI Symptom Analysis Assistant</a:t>
            </a:r>
            <a:r>
              <a:rPr lang="en-US" sz="2800" dirty="0">
                <a:solidFill>
                  <a:schemeClr val="bg1"/>
                </a:solidFill>
              </a:rPr>
              <a:t> that analyzes user-reported symptoms and suggests possible medical conditions with confidence indicators. The system aims to support </a:t>
            </a:r>
            <a:r>
              <a:rPr lang="en-US" sz="2800" b="1" dirty="0">
                <a:solidFill>
                  <a:schemeClr val="bg1"/>
                </a:solidFill>
              </a:rPr>
              <a:t>early health awareness and informed decision-making</a:t>
            </a:r>
            <a:r>
              <a:rPr lang="en-US" sz="2800" dirty="0">
                <a:solidFill>
                  <a:schemeClr val="bg1"/>
                </a:solidFill>
              </a:rPr>
              <a:t>, particularly in regions with limited access to medical professionals.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The solution should accept </a:t>
            </a:r>
            <a:r>
              <a:rPr lang="en-US" sz="2800" b="1" dirty="0">
                <a:solidFill>
                  <a:schemeClr val="bg1"/>
                </a:solidFill>
              </a:rPr>
              <a:t>structured and unstructured symptom input</a:t>
            </a:r>
            <a:r>
              <a:rPr lang="en-US" sz="2800" dirty="0">
                <a:solidFill>
                  <a:schemeClr val="bg1"/>
                </a:solidFill>
              </a:rPr>
              <a:t>, leverage medical datasets and APIs, and provide </a:t>
            </a:r>
            <a:r>
              <a:rPr lang="en-US" sz="2800" b="1" dirty="0">
                <a:solidFill>
                  <a:schemeClr val="bg1"/>
                </a:solidFill>
              </a:rPr>
              <a:t>guideline-aware reasoning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b="1" dirty="0">
                <a:solidFill>
                  <a:schemeClr val="bg1"/>
                </a:solidFill>
              </a:rPr>
              <a:t>risk-level classification</a:t>
            </a:r>
            <a:r>
              <a:rPr lang="en-US" sz="2800" dirty="0">
                <a:solidFill>
                  <a:schemeClr val="bg1"/>
                </a:solidFill>
              </a:rPr>
              <a:t>, and </a:t>
            </a:r>
            <a:r>
              <a:rPr lang="en-US" sz="2800" b="1" dirty="0">
                <a:solidFill>
                  <a:schemeClr val="bg1"/>
                </a:solidFill>
              </a:rPr>
              <a:t>explainable medical insights</a:t>
            </a:r>
            <a:r>
              <a:rPr lang="en-US" sz="2800" dirty="0">
                <a:solidFill>
                  <a:schemeClr val="bg1"/>
                </a:solidFill>
              </a:rPr>
              <a:t> using AI and machine learning techniques.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95D0F3-3C1A-79FE-A83C-357B52459C0A}"/>
              </a:ext>
            </a:extLst>
          </p:cNvPr>
          <p:cNvSpPr txBox="1"/>
          <p:nvPr/>
        </p:nvSpPr>
        <p:spPr>
          <a:xfrm>
            <a:off x="2209800" y="2583417"/>
            <a:ext cx="11582399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err="1">
                <a:solidFill>
                  <a:schemeClr val="bg1"/>
                </a:solidFill>
              </a:rPr>
              <a:t>MedAware</a:t>
            </a:r>
            <a:r>
              <a:rPr lang="en-US" sz="2600" b="1" dirty="0">
                <a:solidFill>
                  <a:schemeClr val="bg1"/>
                </a:solidFill>
              </a:rPr>
              <a:t> is an AI-driven health assistant that combines</a:t>
            </a:r>
          </a:p>
          <a:p>
            <a:r>
              <a:rPr lang="en-US" sz="2600" dirty="0">
                <a:solidFill>
                  <a:schemeClr val="bg1"/>
                </a:solidFill>
              </a:rPr>
              <a:t>▸ </a:t>
            </a:r>
            <a:r>
              <a:rPr lang="en-US" sz="2600" b="1" dirty="0">
                <a:solidFill>
                  <a:schemeClr val="bg1"/>
                </a:solidFill>
              </a:rPr>
              <a:t>Text-based symptom input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to allow users to enter symptoms in structured or unstructured form for analysis.</a:t>
            </a:r>
          </a:p>
          <a:p>
            <a:r>
              <a:rPr lang="en-US" sz="2600" dirty="0">
                <a:solidFill>
                  <a:schemeClr val="bg1"/>
                </a:solidFill>
              </a:rPr>
              <a:t>▸ </a:t>
            </a:r>
            <a:r>
              <a:rPr lang="en-US" sz="2600" b="1" dirty="0">
                <a:solidFill>
                  <a:schemeClr val="bg1"/>
                </a:solidFill>
              </a:rPr>
              <a:t>Voice input with multilingual translation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to enable users to speak symptoms in their native language and have them accurately processed.</a:t>
            </a:r>
          </a:p>
          <a:p>
            <a:r>
              <a:rPr lang="en-US" sz="2600" dirty="0">
                <a:solidFill>
                  <a:schemeClr val="bg1"/>
                </a:solidFill>
              </a:rPr>
              <a:t>▸ </a:t>
            </a:r>
            <a:r>
              <a:rPr lang="en-US" sz="2600" b="1" dirty="0">
                <a:solidFill>
                  <a:schemeClr val="bg1"/>
                </a:solidFill>
              </a:rPr>
              <a:t>Eye scanning using image-based ML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to detect visible health indicators through machine learning-based eye image analysis.</a:t>
            </a:r>
          </a:p>
          <a:p>
            <a:r>
              <a:rPr lang="en-US" sz="2600" dirty="0">
                <a:solidFill>
                  <a:schemeClr val="bg1"/>
                </a:solidFill>
              </a:rPr>
              <a:t>▸ </a:t>
            </a:r>
            <a:r>
              <a:rPr lang="en-US" sz="2600" b="1" dirty="0">
                <a:solidFill>
                  <a:schemeClr val="bg1"/>
                </a:solidFill>
              </a:rPr>
              <a:t>Machine Learning disease prediction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to identify possible medical conditions with confidence scores based on extracted features.</a:t>
            </a:r>
          </a:p>
          <a:p>
            <a:r>
              <a:rPr lang="en-US" sz="2600" dirty="0">
                <a:solidFill>
                  <a:schemeClr val="bg1"/>
                </a:solidFill>
              </a:rPr>
              <a:t>▸ </a:t>
            </a:r>
            <a:r>
              <a:rPr lang="en-US" sz="2600" b="1" dirty="0">
                <a:solidFill>
                  <a:schemeClr val="bg1"/>
                </a:solidFill>
              </a:rPr>
              <a:t>Gemini-powered reasoning &amp; explanation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to provide explainable, guideline-aware medical insights in a user-friendly manner.</a:t>
            </a:r>
          </a:p>
          <a:p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b="1" dirty="0">
                <a:solidFill>
                  <a:schemeClr val="bg1"/>
                </a:solidFill>
              </a:rPr>
              <a:t>The system analyzes multiple health indicators and provides risk classification, confidence scores, and medical guidance without replacing professional diagnosis.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720FAF-9554-4EB3-3BFC-42C3CB097E01}"/>
              </a:ext>
            </a:extLst>
          </p:cNvPr>
          <p:cNvSpPr txBox="1"/>
          <p:nvPr/>
        </p:nvSpPr>
        <p:spPr>
          <a:xfrm>
            <a:off x="825446" y="1518315"/>
            <a:ext cx="36306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SOLUTION: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4000" y="2034693"/>
            <a:ext cx="12652043" cy="722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Innovation &amp; Unique Selling Points: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1. Multilingual Voice-to-Symptom Input</a:t>
            </a:r>
          </a:p>
          <a:p>
            <a:r>
              <a:rPr lang="en-US" sz="2800" dirty="0">
                <a:solidFill>
                  <a:schemeClr val="bg1"/>
                </a:solidFill>
              </a:rPr>
              <a:t>Users can speak symptoms in their native language, which are automatically converted, translated, and analyzed by the system.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2. Eye Scan-Based Health Indicator Detection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system uses image processing and machine learning to analyze eye features such as redness, yellowing, swelling, and abnormal patterns linked to health conditions.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3. Multimodal AI Fusion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Text symptoms, voice inputs, and visual eye data are combined to improve prediction accuracy and reliability.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4. Gemini AI-Powered Medical Reasoning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Gemini AI supports symptom understanding, medical explanation, risk reasoning, and user-friendly response generation.</a:t>
            </a:r>
          </a:p>
          <a:p>
            <a:pPr algn="ctr">
              <a:lnSpc>
                <a:spcPts val="7300"/>
              </a:lnSpc>
            </a:pPr>
            <a:endParaRPr lang="en-US" sz="28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1" y="1729361"/>
            <a:ext cx="6172199" cy="7694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System Workflow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User Input</a:t>
            </a:r>
            <a:endParaRPr lang="en-IN" sz="2000" dirty="0">
              <a:solidFill>
                <a:schemeClr val="bg1"/>
              </a:solidFill>
            </a:endParaRP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Text symptoms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Voice symptoms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Eye image scan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Preprocessing</a:t>
            </a:r>
            <a:endParaRPr lang="en-IN" sz="2000" dirty="0">
              <a:solidFill>
                <a:schemeClr val="bg1"/>
              </a:solidFill>
            </a:endParaRP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Speech-to-text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Language translation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Image normalization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ML </a:t>
            </a:r>
            <a:r>
              <a:rPr lang="en-IN" sz="2000" b="1" dirty="0" err="1">
                <a:solidFill>
                  <a:schemeClr val="bg1"/>
                </a:solidFill>
              </a:rPr>
              <a:t>Modeling</a:t>
            </a:r>
            <a:endParaRPr lang="en-IN" sz="2000" dirty="0">
              <a:solidFill>
                <a:schemeClr val="bg1"/>
              </a:solidFill>
            </a:endParaRP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Symptom-based disease prediction model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Eye image classification model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Multimodal Fusion</a:t>
            </a:r>
            <a:endParaRPr lang="en-IN" sz="2000" dirty="0">
              <a:solidFill>
                <a:schemeClr val="bg1"/>
              </a:solidFill>
            </a:endParaRP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Combined analysis of symptoms + eye scan results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Gemini AI Reasoning</a:t>
            </a:r>
            <a:endParaRPr lang="en-IN" sz="2000" dirty="0">
              <a:solidFill>
                <a:schemeClr val="bg1"/>
              </a:solidFill>
            </a:endParaRP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Explanation generation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Confidence assessment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Risk-level interpretation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Final Output</a:t>
            </a:r>
            <a:endParaRPr lang="en-IN" sz="2000" dirty="0">
              <a:solidFill>
                <a:schemeClr val="bg1"/>
              </a:solidFill>
            </a:endParaRP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Possible conditions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Risk classification (Low / Medium / High)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Medical explanation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Recommended next steps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04210C-BACE-7978-1932-0912897189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196460"/>
            <a:ext cx="10276514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C7ADE1-49BC-1CBF-4BAC-78894EE8524D}"/>
              </a:ext>
            </a:extLst>
          </p:cNvPr>
          <p:cNvSpPr txBox="1"/>
          <p:nvPr/>
        </p:nvSpPr>
        <p:spPr>
          <a:xfrm>
            <a:off x="1905000" y="2058505"/>
            <a:ext cx="12047354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Machine Learning Approach</a:t>
            </a:r>
          </a:p>
          <a:p>
            <a:endParaRPr lang="en-US" sz="4000" b="1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Symptom Analysis Model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Extracted symptoms are used to predict probable diseases with confidence scores.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Eye Scan Model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Eye images are analyzed to detect visual indicators associated with health conditions.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Fusion Layer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Outputs from both models are combined to improve reliability and reduce false positives.</a:t>
            </a:r>
          </a:p>
          <a:p>
            <a:endParaRPr lang="en-IN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4CDEE3-BF39-5E9D-D1F6-8630BBA4AA78}"/>
              </a:ext>
            </a:extLst>
          </p:cNvPr>
          <p:cNvSpPr txBox="1"/>
          <p:nvPr/>
        </p:nvSpPr>
        <p:spPr>
          <a:xfrm>
            <a:off x="2057400" y="2368575"/>
            <a:ext cx="9602222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Ethical Considerations</a:t>
            </a:r>
            <a:endParaRPr lang="en-US" sz="8800" b="1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The system is designed as a decision-support tool and is not intended to replace professional medical diagnosis.</a:t>
            </a:r>
          </a:p>
          <a:p>
            <a:r>
              <a:rPr lang="en-US" sz="3600" dirty="0">
                <a:solidFill>
                  <a:schemeClr val="bg1"/>
                </a:solidFill>
              </a:rPr>
              <a:t>Clear disclaimers are provided to ensure responsible usage.</a:t>
            </a:r>
          </a:p>
          <a:p>
            <a:r>
              <a:rPr lang="en-US" sz="3600" dirty="0">
                <a:solidFill>
                  <a:schemeClr val="bg1"/>
                </a:solidFill>
              </a:rPr>
              <a:t>User data privacy and consent are strictly maintained.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The solution supports healthcare decision-making while respecting medical ethics.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8DAD75-BA78-505D-11F8-457CBACD84D8}"/>
              </a:ext>
            </a:extLst>
          </p:cNvPr>
          <p:cNvSpPr txBox="1"/>
          <p:nvPr/>
        </p:nvSpPr>
        <p:spPr>
          <a:xfrm>
            <a:off x="2154687" y="2958286"/>
            <a:ext cx="13343909" cy="4370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Impact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The system improves healthcare accessibility for non-English speakers.</a:t>
            </a:r>
          </a:p>
          <a:p>
            <a:r>
              <a:rPr lang="en-US" sz="3200" dirty="0">
                <a:solidFill>
                  <a:schemeClr val="bg1"/>
                </a:solidFill>
              </a:rPr>
              <a:t>Early detection is supported through visual and symptom-based analysis.</a:t>
            </a:r>
          </a:p>
          <a:p>
            <a:r>
              <a:rPr lang="en-US" sz="3200" dirty="0">
                <a:solidFill>
                  <a:schemeClr val="bg1"/>
                </a:solidFill>
              </a:rPr>
              <a:t>Rural and under-served populations benefit from AI-assisted medical guidance.</a:t>
            </a:r>
          </a:p>
          <a:p>
            <a:r>
              <a:rPr lang="en-US" sz="3200" dirty="0">
                <a:solidFill>
                  <a:schemeClr val="bg1"/>
                </a:solidFill>
              </a:rPr>
              <a:t>Risk categorization helps reduce unnecessary panic.</a:t>
            </a:r>
          </a:p>
          <a:p>
            <a:r>
              <a:rPr lang="en-US" sz="3200" dirty="0">
                <a:solidFill>
                  <a:schemeClr val="bg1"/>
                </a:solidFill>
              </a:rPr>
              <a:t>Timely medical consultation is encouraged through clear risk assessment.</a:t>
            </a:r>
          </a:p>
          <a:p>
            <a:endParaRPr lang="en-I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78613" y="2705100"/>
            <a:ext cx="12652043" cy="552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Demo Walkthrough</a:t>
            </a:r>
          </a:p>
          <a:p>
            <a:endParaRPr lang="en-US" sz="3600" b="1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The user speaks symptoms in their native language.</a:t>
            </a:r>
          </a:p>
          <a:p>
            <a:r>
              <a:rPr lang="en-US" sz="3600" dirty="0">
                <a:solidFill>
                  <a:schemeClr val="bg1"/>
                </a:solidFill>
              </a:rPr>
              <a:t>Voice input is converted into translated text.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The user scans their eye using the device camera.</a:t>
            </a:r>
          </a:p>
          <a:p>
            <a:r>
              <a:rPr lang="en-US" sz="3600" dirty="0">
                <a:solidFill>
                  <a:schemeClr val="bg1"/>
                </a:solidFill>
              </a:rPr>
              <a:t>ML models analyze both symptom data and eye images.</a:t>
            </a:r>
          </a:p>
          <a:p>
            <a:r>
              <a:rPr lang="en-US" sz="3600" dirty="0">
                <a:solidFill>
                  <a:schemeClr val="bg1"/>
                </a:solidFill>
              </a:rPr>
              <a:t>Gemini AI generates a medical explanation.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The final risk assessment is displayed to the user.</a:t>
            </a:r>
          </a:p>
          <a:p>
            <a:pPr algn="ctr">
              <a:lnSpc>
                <a:spcPts val="7300"/>
              </a:lnSpc>
            </a:pPr>
            <a:endParaRPr lang="en-US" sz="36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905000" y="2324100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TEAM MEMBERS: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3CE624-23D4-D72F-2524-30C363BB9EB3}"/>
              </a:ext>
            </a:extLst>
          </p:cNvPr>
          <p:cNvSpPr txBox="1"/>
          <p:nvPr/>
        </p:nvSpPr>
        <p:spPr>
          <a:xfrm>
            <a:off x="1869438" y="3805232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Name: </a:t>
            </a:r>
            <a:r>
              <a:rPr lang="en-IN" dirty="0" err="1">
                <a:solidFill>
                  <a:schemeClr val="bg1"/>
                </a:solidFill>
              </a:rPr>
              <a:t>Nishanth.A.A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Reg No: 25BYB1080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5AFF9B-6020-D75C-39A6-5DB1DED9E3BC}"/>
              </a:ext>
            </a:extLst>
          </p:cNvPr>
          <p:cNvSpPr txBox="1"/>
          <p:nvPr/>
        </p:nvSpPr>
        <p:spPr>
          <a:xfrm>
            <a:off x="1904999" y="4996542"/>
            <a:ext cx="2362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Name: </a:t>
            </a:r>
            <a:r>
              <a:rPr lang="en-IN" dirty="0" err="1">
                <a:solidFill>
                  <a:schemeClr val="bg1"/>
                </a:solidFill>
              </a:rPr>
              <a:t>J.Mohamed</a:t>
            </a:r>
            <a:r>
              <a:rPr lang="en-IN" dirty="0">
                <a:solidFill>
                  <a:schemeClr val="bg1"/>
                </a:solidFill>
              </a:rPr>
              <a:t> Arif</a:t>
            </a:r>
          </a:p>
          <a:p>
            <a:r>
              <a:rPr lang="en-IN" dirty="0">
                <a:solidFill>
                  <a:schemeClr val="bg1"/>
                </a:solidFill>
              </a:rPr>
              <a:t>Reg No: 25BYB1146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FBA60-3C7A-BB51-8EF5-CC31862FF492}"/>
              </a:ext>
            </a:extLst>
          </p:cNvPr>
          <p:cNvSpPr txBox="1"/>
          <p:nvPr/>
        </p:nvSpPr>
        <p:spPr>
          <a:xfrm>
            <a:off x="7696200" y="4820334"/>
            <a:ext cx="2087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Name: Hima Sri</a:t>
            </a:r>
          </a:p>
          <a:p>
            <a:r>
              <a:rPr lang="en-IN" dirty="0">
                <a:solidFill>
                  <a:schemeClr val="bg1"/>
                </a:solidFill>
              </a:rPr>
              <a:t>Reg No: 25BAI1501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4E8922-4492-4684-2216-AC89050DCBA6}"/>
              </a:ext>
            </a:extLst>
          </p:cNvPr>
          <p:cNvSpPr txBox="1"/>
          <p:nvPr/>
        </p:nvSpPr>
        <p:spPr>
          <a:xfrm>
            <a:off x="7620000" y="3695700"/>
            <a:ext cx="259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Name: </a:t>
            </a:r>
            <a:r>
              <a:rPr lang="en-IN" dirty="0" err="1">
                <a:solidFill>
                  <a:schemeClr val="bg1"/>
                </a:solidFill>
              </a:rPr>
              <a:t>S.Haridev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Reg No: 25BYB1165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FACAF8-6C81-2E64-9EFB-5D1E66B83D70}"/>
              </a:ext>
            </a:extLst>
          </p:cNvPr>
          <p:cNvSpPr txBox="1"/>
          <p:nvPr/>
        </p:nvSpPr>
        <p:spPr>
          <a:xfrm>
            <a:off x="1940559" y="6127295"/>
            <a:ext cx="2783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Name: </a:t>
            </a:r>
            <a:r>
              <a:rPr lang="en-IN" dirty="0" err="1">
                <a:solidFill>
                  <a:schemeClr val="bg1"/>
                </a:solidFill>
              </a:rPr>
              <a:t>M.K.keerthivasan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Reg No: 25Brs1304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680</Words>
  <Application>Microsoft Office PowerPoint</Application>
  <PresentationFormat>Custom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Playfair Display Bold</vt:lpstr>
      <vt:lpstr>Source Serif Pro Bold</vt:lpstr>
      <vt:lpstr>Libre Franklin Bold</vt:lpstr>
      <vt:lpstr>Calibri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EDITION 2</dc:title>
  <cp:lastModifiedBy>Haridev S</cp:lastModifiedBy>
  <cp:revision>7</cp:revision>
  <dcterms:created xsi:type="dcterms:W3CDTF">2006-08-16T00:00:00Z</dcterms:created>
  <dcterms:modified xsi:type="dcterms:W3CDTF">2025-12-18T14:26:39Z</dcterms:modified>
  <dc:identifier>DAG7o8SITjs</dc:identifier>
</cp:coreProperties>
</file>